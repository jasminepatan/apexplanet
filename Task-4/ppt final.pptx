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000B17-6F55-4124-A804-E2666A98AA2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53668-D4D1-47D3-92B7-A45AA8D2A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768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53668-D4D1-47D3-92B7-A45AA8D2A58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611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D07DB-9631-F050-75FE-096057139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04E9A-A167-9CBE-AD77-B8C4EF9DD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83707-2146-9BA4-E2C4-7EA35BDA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BD89-77D3-4D8B-B71B-CB9B1C5FD29A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E0BC1-9677-5754-D6EC-8F245C439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E22B4-2B0C-C9D1-A007-A2D0E492F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778E-430F-45B1-97A0-3B10127CE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645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F8BCC-5CB0-CE51-6BCC-F5DC3D7A2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5E485-8F58-535A-C5DC-09A151FD1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86656-04D1-E222-8815-21ADCBCAF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BD89-77D3-4D8B-B71B-CB9B1C5FD29A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128CB-12BA-9FFA-9380-E25FFB7A3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8C930-EADA-F172-724E-60BECE7A1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778E-430F-45B1-97A0-3B10127CE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035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26325-4AA1-DD91-A2A4-18B2EF86F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6C76E-BA1C-7FCA-0973-E07221550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51037-E7E9-DDC2-BE4B-14E27D11B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BD89-77D3-4D8B-B71B-CB9B1C5FD29A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1CF6F-764D-AAC3-DE95-0783C6A8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5DFA7-8EAD-B25F-C432-BDC55218E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778E-430F-45B1-97A0-3B10127CE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436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1DD6A-A131-D65C-C108-5A8CCC8B7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48FE9-4B04-A44D-A422-7D99FDC327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5049AD-DB96-3038-4DA0-6B510763E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5003F-C617-49B1-BFA8-338B8A26F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BD89-77D3-4D8B-B71B-CB9B1C5FD29A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CB6B4-449E-C2FD-12C7-DB7CC34FF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58B81-997E-1BFC-9C13-7BD3ED93D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778E-430F-45B1-97A0-3B10127CE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13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D7B7C-C832-9337-6023-ACCCA9CC2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852B-00FB-D89B-ABF9-42ABCD062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2D8B9-E096-6AFB-C543-D0A0F8FF6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9F3538-0ED2-ED47-7D8B-EBF3A4F96C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9BF0C-EE96-289A-02F4-215B772295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07487D-C8A6-5152-3676-3DCB355E7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BD89-77D3-4D8B-B71B-CB9B1C5FD29A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E30A68-C445-810B-F81C-AE959C38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ED1589-09EF-B335-2CA1-3854534B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778E-430F-45B1-97A0-3B10127CE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156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842A3-E975-8156-EAD0-9D044AB2B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C82F1C-B54C-938B-0755-FD2FDA824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BD89-77D3-4D8B-B71B-CB9B1C5FD29A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0AFC0-60CE-A564-35D0-22ED9DB65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4E29CA-7BCF-E080-8094-4F1F1770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778E-430F-45B1-97A0-3B10127CE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229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392CA4-58EF-F661-6A31-118059402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BD89-77D3-4D8B-B71B-CB9B1C5FD29A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4AA00C-482F-0286-C7BF-4BDABA937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BD432-CBEB-9B7A-3353-C6E0A4562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778E-430F-45B1-97A0-3B10127CE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138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ACAB-4B3C-D3AF-5D51-3B0027045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5944A-9007-6218-6894-BB34FE35C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665D4-FB47-5492-4E8C-11078BBF1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F2B87-A8E0-BAC1-0D59-F6FA1C265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BD89-77D3-4D8B-B71B-CB9B1C5FD29A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39CF9-D09A-015C-E402-B1948EF35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7104-B14D-FF28-EEA5-D33FCD077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778E-430F-45B1-97A0-3B10127CE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33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3AA6D-8FBE-4D6B-BCFC-21B480F5C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433A5F-DDC2-971E-ECEE-B8098BA012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20F800-DE6C-7922-1FA5-45C54A0AA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E85292-1A27-C2D5-F39D-DAB53E325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BD89-77D3-4D8B-B71B-CB9B1C5FD29A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3356E-C126-9831-57BE-74D783AC3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525412-57E1-7DFE-C3E0-37906B5A1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778E-430F-45B1-97A0-3B10127CE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40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B157B-0740-3907-DDB0-1D6378894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5681E-2F07-168F-B3D6-6EC5BCBFB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ED56A-16CC-8A35-E7EE-55CC2E25D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BD89-77D3-4D8B-B71B-CB9B1C5FD29A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0FB31-FD7A-E99C-8F71-AC36FAEA5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3795F-585D-A94A-8971-7145222C9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778E-430F-45B1-97A0-3B10127CE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33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C38AD7-5384-D82A-4247-DE040B1AC8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445CE-8BEC-9D00-CA19-0ED190255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D158B-1F15-0866-5EA4-D5959D08E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BD89-77D3-4D8B-B71B-CB9B1C5FD29A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D3D11-ADEB-DA23-66CD-AA138C0E6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F687C-9BAC-B0CA-A8C5-B432667F8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778E-430F-45B1-97A0-3B10127CE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75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C937B3-9678-FF4D-BC87-3CF8F059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8F025-C1E0-2638-674B-D18FB732E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ACEF4-A1E1-F78A-A3B7-185BB9A22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9BD89-77D3-4D8B-B71B-CB9B1C5FD29A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39BF4-AB54-09EA-E0F4-65738BFA8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C1BCB-4A5E-CA28-1759-2C5889E50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4F778E-430F-45B1-97A0-3B10127CE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640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DF6CD-447F-FEA1-A6AD-E2557408D9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Supermarket Sales Data Analysis &amp; Statistical Validation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46ED9E-044D-333C-FF7A-8F339A47B2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602037"/>
            <a:ext cx="5029200" cy="3052763"/>
          </a:xfrm>
        </p:spPr>
        <p:txBody>
          <a:bodyPr>
            <a:normAutofit/>
          </a:bodyPr>
          <a:lstStyle/>
          <a:p>
            <a:endParaRPr lang="en-IN" b="1" dirty="0"/>
          </a:p>
          <a:p>
            <a:r>
              <a:rPr lang="en-IN" b="1" dirty="0"/>
              <a:t>Tools Used:</a:t>
            </a:r>
            <a:endParaRPr lang="en-IN" dirty="0"/>
          </a:p>
          <a:p>
            <a:r>
              <a:rPr lang="en-IN" dirty="0"/>
              <a:t>Microsoft Power BI Desktop</a:t>
            </a:r>
          </a:p>
          <a:p>
            <a:r>
              <a:rPr lang="en-IN" dirty="0"/>
              <a:t>Google </a:t>
            </a:r>
            <a:r>
              <a:rPr lang="en-IN" dirty="0" err="1"/>
              <a:t>Colab</a:t>
            </a:r>
            <a:endParaRPr lang="en-IN" dirty="0"/>
          </a:p>
          <a:p>
            <a:r>
              <a:rPr lang="en-IN" dirty="0"/>
              <a:t>Microsoft PowerPoint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242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6F22-EADC-9719-AD34-38BCDD61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EACB0-B84B-5E94-92CD-6C424E24E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 of the Project</a:t>
            </a:r>
          </a:p>
          <a:p>
            <a:pPr marL="0" indent="0">
              <a:buNone/>
            </a:pPr>
            <a:r>
              <a:rPr lang="en-US" dirty="0"/>
              <a:t>The main objective of this project is to: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Analyze supermarket sales data</a:t>
            </a:r>
          </a:p>
          <a:p>
            <a:r>
              <a:rPr lang="en-US" dirty="0"/>
              <a:t>Identify sales trends and patterns</a:t>
            </a:r>
          </a:p>
          <a:p>
            <a:r>
              <a:rPr lang="en-US" dirty="0"/>
              <a:t>Visualize business insights using dashboards</a:t>
            </a:r>
          </a:p>
          <a:p>
            <a:r>
              <a:rPr lang="en-US" dirty="0"/>
              <a:t>Validate findings using statistical hypothesis testing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40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67AD5-DBF5-FDB4-6F71-EE581D5FF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2132"/>
          </a:xfrm>
        </p:spPr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034E9-182E-9A09-0521-13791878D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1467"/>
            <a:ext cx="10515600" cy="58928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Dataset Name:</a:t>
            </a:r>
            <a:br>
              <a:rPr lang="en-US" dirty="0"/>
            </a:br>
            <a:r>
              <a:rPr lang="en-US" dirty="0"/>
              <a:t>Supermarket Sales Dataset</a:t>
            </a:r>
          </a:p>
          <a:p>
            <a:r>
              <a:rPr lang="en-US" b="1" dirty="0"/>
              <a:t>Key Columns:</a:t>
            </a:r>
            <a:endParaRPr lang="en-US" dirty="0"/>
          </a:p>
          <a:p>
            <a:r>
              <a:rPr lang="en-US" dirty="0"/>
              <a:t>Invoice ID</a:t>
            </a:r>
          </a:p>
          <a:p>
            <a:r>
              <a:rPr lang="en-US" dirty="0"/>
              <a:t>Branch</a:t>
            </a:r>
          </a:p>
          <a:p>
            <a:r>
              <a:rPr lang="en-US" dirty="0"/>
              <a:t>City</a:t>
            </a:r>
          </a:p>
          <a:p>
            <a:r>
              <a:rPr lang="en-US" dirty="0"/>
              <a:t>Product Line</a:t>
            </a:r>
          </a:p>
          <a:p>
            <a:r>
              <a:rPr lang="en-US" dirty="0"/>
              <a:t>Quantity</a:t>
            </a:r>
          </a:p>
          <a:p>
            <a:r>
              <a:rPr lang="en-US" dirty="0"/>
              <a:t>Unit Price</a:t>
            </a:r>
          </a:p>
          <a:p>
            <a:r>
              <a:rPr lang="en-US" dirty="0"/>
              <a:t>Total Sales</a:t>
            </a:r>
          </a:p>
          <a:p>
            <a:r>
              <a:rPr lang="en-US" dirty="0"/>
              <a:t>Payment Method</a:t>
            </a:r>
          </a:p>
          <a:p>
            <a:r>
              <a:rPr lang="en-US" dirty="0"/>
              <a:t>Customer Rating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Total Records: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1000 transactions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830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E1A5B-C5FB-DEAA-5544-72A5F1C0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Performance Indicators (KPIs)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77E64-23DA-87F5-E91F-2316BF031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Important KPIs analyzed:</a:t>
            </a:r>
          </a:p>
          <a:p>
            <a:r>
              <a:rPr lang="en-US" b="1" dirty="0"/>
              <a:t>Total Sales</a:t>
            </a:r>
            <a:endParaRPr lang="en-US" dirty="0"/>
          </a:p>
          <a:p>
            <a:r>
              <a:rPr lang="en-US" b="1" dirty="0"/>
              <a:t>Total Quantity Sold</a:t>
            </a:r>
            <a:endParaRPr lang="en-US" dirty="0"/>
          </a:p>
          <a:p>
            <a:r>
              <a:rPr lang="en-US" b="1" dirty="0"/>
              <a:t>Average Customer Rating</a:t>
            </a:r>
            <a:endParaRPr lang="en-US" dirty="0"/>
          </a:p>
          <a:p>
            <a:r>
              <a:rPr lang="en-US" b="1" dirty="0"/>
              <a:t>Sales by Product Line</a:t>
            </a:r>
            <a:endParaRPr lang="en-US" dirty="0"/>
          </a:p>
          <a:p>
            <a:r>
              <a:rPr lang="en-US" b="1" dirty="0"/>
              <a:t>Sales by Payment Method</a:t>
            </a:r>
            <a:endParaRPr lang="en-US" dirty="0"/>
          </a:p>
          <a:p>
            <a:r>
              <a:rPr lang="en-US" dirty="0"/>
              <a:t>These KPIs help understand overall business performance.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3043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55538-D8E3-1F32-A9F6-AF98AD3ED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FA790-76E9-8A91-6546-60FB06E2C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9492"/>
            <a:ext cx="10515600" cy="4351338"/>
          </a:xfrm>
        </p:spPr>
        <p:txBody>
          <a:bodyPr/>
          <a:lstStyle/>
          <a:p>
            <a:r>
              <a:rPr lang="en-US" dirty="0"/>
              <a:t>Dashboard created using</a:t>
            </a:r>
            <a:br>
              <a:rPr lang="en-US" dirty="0"/>
            </a:br>
            <a:r>
              <a:rPr lang="en-US" dirty="0"/>
              <a:t>Microsoft Power BI Desktop.</a:t>
            </a:r>
          </a:p>
          <a:p>
            <a:pPr marL="0" indent="0">
              <a:buNone/>
            </a:pPr>
            <a:r>
              <a:rPr lang="en-US" dirty="0"/>
              <a:t>Visualizations included:</a:t>
            </a:r>
          </a:p>
          <a:p>
            <a:r>
              <a:rPr lang="en-US" dirty="0"/>
              <a:t>Sales by Product Line</a:t>
            </a:r>
          </a:p>
          <a:p>
            <a:r>
              <a:rPr lang="en-US" dirty="0"/>
              <a:t>Sales by City</a:t>
            </a:r>
          </a:p>
          <a:p>
            <a:r>
              <a:rPr lang="en-US" dirty="0"/>
              <a:t>Payment Method Distribution</a:t>
            </a:r>
          </a:p>
          <a:p>
            <a:r>
              <a:rPr lang="en-US" dirty="0"/>
              <a:t>Average Customer Rating</a:t>
            </a:r>
          </a:p>
          <a:p>
            <a:r>
              <a:rPr lang="en-US" dirty="0"/>
              <a:t>Monthly Sales Trend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C94F2B-EBC4-19B9-07AE-B00290415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867" y="1626714"/>
            <a:ext cx="5520266" cy="360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688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41B78-CCB5-5003-A1DF-65E373387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A1229-77C4-A36D-1EE4-D3F683A0A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 I</a:t>
            </a:r>
            <a:r>
              <a:rPr lang="en-US" dirty="0"/>
              <a:t>mportant insights discovered:</a:t>
            </a:r>
          </a:p>
          <a:p>
            <a:r>
              <a:rPr lang="en-US" dirty="0"/>
              <a:t>Food &amp; Beverages generated high revenue.</a:t>
            </a:r>
          </a:p>
          <a:p>
            <a:r>
              <a:rPr lang="en-US" dirty="0"/>
              <a:t>Yangon branch had strong sales performance.</a:t>
            </a:r>
          </a:p>
          <a:p>
            <a:r>
              <a:rPr lang="en-US" dirty="0"/>
              <a:t>Digital payments like E-wallet are commonly used.</a:t>
            </a:r>
          </a:p>
          <a:p>
            <a:r>
              <a:rPr lang="en-US" dirty="0"/>
              <a:t>Customer ratings were mostly above average.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179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35E6C-09D9-05CB-5AAB-3A4A56390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Hypothesis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F17FB-DC7E-09C7-AC69-5B6D2CD75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Business Question</a:t>
            </a:r>
            <a:endParaRPr lang="en-US" dirty="0"/>
          </a:p>
          <a:p>
            <a:r>
              <a:rPr lang="en-US" dirty="0"/>
              <a:t>Do customers using E-wallet spend more than customers using Cash?</a:t>
            </a:r>
          </a:p>
          <a:p>
            <a:r>
              <a:rPr lang="en-US" b="1" dirty="0"/>
              <a:t>Null Hypothesis (H₀):</a:t>
            </a:r>
            <a:endParaRPr lang="en-US" dirty="0"/>
          </a:p>
          <a:p>
            <a:r>
              <a:rPr lang="en-US" dirty="0"/>
              <a:t>There is </a:t>
            </a:r>
            <a:r>
              <a:rPr lang="en-US" b="1" dirty="0"/>
              <a:t>no significant difference</a:t>
            </a:r>
            <a:r>
              <a:rPr lang="en-US" dirty="0"/>
              <a:t> in total spending between Cash and E-wallet customers.</a:t>
            </a:r>
          </a:p>
          <a:p>
            <a:r>
              <a:rPr lang="en-US" b="1" dirty="0"/>
              <a:t>Alternative Hypothesis (H₁):</a:t>
            </a:r>
            <a:endParaRPr lang="en-US" dirty="0"/>
          </a:p>
          <a:p>
            <a:r>
              <a:rPr lang="en-US" dirty="0"/>
              <a:t>There </a:t>
            </a:r>
            <a:r>
              <a:rPr lang="en-US" b="1" dirty="0"/>
              <a:t>is a significant difference</a:t>
            </a:r>
            <a:r>
              <a:rPr lang="en-US" dirty="0"/>
              <a:t> in spending between the two payment methods.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5706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F981C-F9EA-863D-C68C-2CE194271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7DC69-7B40-2AA0-FC3E-BEF861116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466"/>
            <a:ext cx="10515600" cy="54525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Hypothesis testing performed using</a:t>
            </a:r>
            <a:br>
              <a:rPr lang="en-US" dirty="0"/>
            </a:br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Test Used:</a:t>
            </a:r>
            <a:br>
              <a:rPr lang="en-US" dirty="0"/>
            </a:br>
            <a:r>
              <a:rPr lang="en-US" dirty="0"/>
              <a:t>Independent T-Test</a:t>
            </a:r>
          </a:p>
          <a:p>
            <a:r>
              <a:rPr lang="en-US" b="1" dirty="0"/>
              <a:t>Results</a:t>
            </a:r>
            <a:endParaRPr lang="en-US" dirty="0"/>
          </a:p>
          <a:p>
            <a:r>
              <a:rPr lang="en-US" dirty="0"/>
              <a:t>T-statistic = </a:t>
            </a:r>
            <a:r>
              <a:rPr lang="en-US" b="1" dirty="0"/>
              <a:t>0.4009</a:t>
            </a:r>
            <a:endParaRPr lang="en-US" dirty="0"/>
          </a:p>
          <a:p>
            <a:r>
              <a:rPr lang="en-US" dirty="0"/>
              <a:t>P-value = </a:t>
            </a:r>
            <a:r>
              <a:rPr lang="en-US" b="1" dirty="0"/>
              <a:t>0.6886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61CDEF-7658-4C2D-413D-306D6D3C3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132" y="1066800"/>
            <a:ext cx="5621867" cy="36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304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8D472-62EB-0F21-9621-7221E7DB8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&amp;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632EE-67B4-E79E-2D95-7F7ABC62E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Since:</a:t>
            </a:r>
          </a:p>
          <a:p>
            <a:r>
              <a:rPr lang="en-US" b="1" dirty="0"/>
              <a:t>P-value (0.6886) &gt; 0.05</a:t>
            </a:r>
            <a:endParaRPr lang="en-US" dirty="0"/>
          </a:p>
          <a:p>
            <a:r>
              <a:rPr lang="en-US" dirty="0"/>
              <a:t>We </a:t>
            </a:r>
            <a:r>
              <a:rPr lang="en-US" b="1" dirty="0"/>
              <a:t>fail to reject the null hypothesis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Conclusion:</a:t>
            </a:r>
            <a:endParaRPr lang="en-US" dirty="0"/>
          </a:p>
          <a:p>
            <a:r>
              <a:rPr lang="en-US" dirty="0"/>
              <a:t>Payment method does </a:t>
            </a:r>
            <a:r>
              <a:rPr lang="en-US" b="1" dirty="0"/>
              <a:t>not significantly affect customer spending</a:t>
            </a:r>
            <a:r>
              <a:rPr lang="en-US" dirty="0"/>
              <a:t>.</a:t>
            </a:r>
          </a:p>
          <a:p>
            <a:r>
              <a:rPr lang="en-US" dirty="0"/>
              <a:t>Customers spend similar amounts regardless of payment type.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8923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532C2-4BF6-C971-9F51-F3CA83A89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86532-152F-1DFC-18C9-8EF2F584F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3" y="1825625"/>
            <a:ext cx="12073467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Conclusion</a:t>
            </a:r>
            <a:endParaRPr lang="en-US" dirty="0"/>
          </a:p>
          <a:p>
            <a:r>
              <a:rPr lang="en-US" dirty="0"/>
              <a:t>Sales patterns were identified through dashboards.</a:t>
            </a:r>
          </a:p>
          <a:p>
            <a:r>
              <a:rPr lang="en-US" dirty="0"/>
              <a:t>Statistical testing confirmed payment method has minimal impact on spending.</a:t>
            </a:r>
          </a:p>
          <a:p>
            <a:pPr marL="0" indent="0">
              <a:buNone/>
            </a:pPr>
            <a:r>
              <a:rPr lang="en-US" b="1" dirty="0"/>
              <a:t>Recommendations</a:t>
            </a:r>
            <a:endParaRPr lang="en-US" dirty="0"/>
          </a:p>
          <a:p>
            <a:r>
              <a:rPr lang="en-US" dirty="0"/>
              <a:t>Focus marketing on high-selling product lines.</a:t>
            </a:r>
          </a:p>
          <a:p>
            <a:r>
              <a:rPr lang="en-US" dirty="0"/>
              <a:t>Maintain multiple payment options for customer convenience.</a:t>
            </a:r>
          </a:p>
          <a:p>
            <a:r>
              <a:rPr lang="en-US" dirty="0"/>
              <a:t>Use dashboards for continuous business monitoring.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98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349</Words>
  <Application>Microsoft Office PowerPoint</Application>
  <PresentationFormat>Widescreen</PresentationFormat>
  <Paragraphs>80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Supermarket Sales Data Analysis &amp; Statistical Validation</vt:lpstr>
      <vt:lpstr>Project Objective</vt:lpstr>
      <vt:lpstr>Dataset Description</vt:lpstr>
      <vt:lpstr>Key Performance Indicators (KPIs)</vt:lpstr>
      <vt:lpstr>Power BI Dashboard</vt:lpstr>
      <vt:lpstr>Key Insights</vt:lpstr>
      <vt:lpstr>Hypothesis Statement</vt:lpstr>
      <vt:lpstr>Statistical Testing</vt:lpstr>
      <vt:lpstr>Result &amp; Interpretation</vt:lpstr>
      <vt:lpstr>Conclusion &amp;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Jasmine Patan</dc:creator>
  <cp:lastModifiedBy>Jasmine Patan</cp:lastModifiedBy>
  <cp:revision>1</cp:revision>
  <dcterms:created xsi:type="dcterms:W3CDTF">2026-03-09T06:23:20Z</dcterms:created>
  <dcterms:modified xsi:type="dcterms:W3CDTF">2026-03-09T07:20:19Z</dcterms:modified>
</cp:coreProperties>
</file>